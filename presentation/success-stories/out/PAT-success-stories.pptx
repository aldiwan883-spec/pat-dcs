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photo: PAT team on site (PAT photo).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Logos are trademarks of their owners and are shown to identify companies PAT has worked for. Check each company's policy before external use — Saudi Aramco in particular requires written approval to reference its name or logo in marketing material. Name tiles are used where no logo file is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GW+: sum of the plant capacities in the reference list, counting each plant once (Rabigh II and Shoaiba Stage I not counted). Photo: PAT team on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Map: Natural Earth (public domain). Site locations are approximate (city level).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01.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02.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  <a:p>
            <a:r>
              <a:t>Recognised by Emerson: DCS Lead Engineer, Damietta 1,230 MW WDPF to Ovation Migration.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03 (+ 4, 5).</a:t>
            </a:r>
          </a:p>
          <a:p>
            <a:r>
              <a:t>Contractor(s): Emerson, SKODA (Czech Republic), CMI (now John Cockerill)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  <a:p>
            <a:r>
              <a:t>Recognised by Emerson: DCS Lead Engineer on both plants.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06.</a:t>
            </a:r>
          </a:p>
          <a:p>
            <a:r>
              <a:t>Contractor(s): Savola Group — from the PAT reference list.</a:t>
            </a:r>
          </a:p>
          <a:p>
            <a:r>
              <a:t>End user: United Sugar Company of Egypt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07.</a:t>
            </a:r>
          </a:p>
          <a:p>
            <a:r>
              <a:t>Contractor(s): INITEC (Spain)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10.</a:t>
            </a:r>
          </a:p>
          <a:p>
            <a:r>
              <a:t>Contractor(s): INITEC (Spain)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13.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14.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15.</a:t>
            </a:r>
          </a:p>
          <a:p>
            <a:r>
              <a:t>Contractor(s): Iberdrola — from the PAT reference list.</a:t>
            </a:r>
          </a:p>
          <a:p>
            <a:r>
              <a:t>End user: NREA — New &amp; Renewable Energy Authority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21.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24.</a:t>
            </a:r>
          </a:p>
          <a:p>
            <a:r>
              <a:t>Contractor(s): GE, Orascom Construction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26.</a:t>
            </a:r>
          </a:p>
          <a:p>
            <a:r>
              <a:t>Contractor(s): Direct contract — from the PAT reference list.</a:t>
            </a:r>
          </a:p>
          <a:p>
            <a:r>
              <a:t>End user: El Esraa Co..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08.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09.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12.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16.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11.</a:t>
            </a:r>
          </a:p>
          <a:p>
            <a:r>
              <a:t>Contractor(s): Emerson — from the PAT reference list.</a:t>
            </a:r>
          </a:p>
          <a:p>
            <a:r>
              <a:t>End user: not stated.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17.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19.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20.</a:t>
            </a:r>
          </a:p>
          <a:p>
            <a:r>
              <a:t>Contractor(s): Emerson, Hanwha — from the PAT reference list.</a:t>
            </a:r>
          </a:p>
          <a:p>
            <a:r>
              <a:t>End user: Marafiq.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22.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23.</a:t>
            </a:r>
          </a:p>
          <a:p>
            <a:r>
              <a:t>Contractor(s): Saudi FAL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25.</a:t>
            </a:r>
          </a:p>
          <a:p>
            <a:r>
              <a:t>Contractor(s): Leoron — from the PAT reference list.</a:t>
            </a:r>
          </a:p>
          <a:p>
            <a:r>
              <a:t>End user: Marafiq.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27.</a:t>
            </a:r>
          </a:p>
          <a:p>
            <a:r>
              <a:t>Contractor(s): Emerson, Giza Systems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28.</a:t>
            </a:r>
          </a:p>
          <a:p>
            <a:r>
              <a:t>Contractor(s): Emerson, Saudi FAL, KBR (design) — from the PAT reference list.</a:t>
            </a:r>
          </a:p>
          <a:p>
            <a:r>
              <a:t>End user: Saudi Aramco.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18.</a:t>
            </a:r>
          </a:p>
          <a:p>
            <a:r>
              <a:t>Contractor(s): Emerson, Daewoo E&amp;C — from the PAT reference list.</a:t>
            </a:r>
          </a:p>
          <a:p>
            <a:r>
              <a:t>End user: Phoenix Power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16.png"/><Relationship Id="rId15" Type="http://schemas.openxmlformats.org/officeDocument/2006/relationships/image" Target="../media/image17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image" Target="../media/image21.png"/><Relationship Id="rId8" Type="http://schemas.openxmlformats.org/officeDocument/2006/relationships/image" Target="../media/image25.png"/><Relationship Id="rId9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image" Target="../media/image16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8.png"/><Relationship Id="rId4" Type="http://schemas.openxmlformats.org/officeDocument/2006/relationships/image" Target="../media/image13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38.png"/><Relationship Id="rId4" Type="http://schemas.openxmlformats.org/officeDocument/2006/relationships/image" Target="../media/image9.pn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38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3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21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54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58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20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60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image" Target="../media/image62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58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14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65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10.png"/><Relationship Id="rId7" Type="http://schemas.openxmlformats.org/officeDocument/2006/relationships/image" Target="../media/image18.png"/><Relationship Id="rId8" Type="http://schemas.openxmlformats.org/officeDocument/2006/relationships/image" Target="../media/image25.png"/><Relationship Id="rId9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image" Target="../media/image67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22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image" Target="../media/image2.png"/><Relationship Id="rId4" Type="http://schemas.openxmlformats.org/officeDocument/2006/relationships/image" Target="../media/image70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-stack.jpg"/>
          <p:cNvPicPr>
            <a:picLocks noChangeAspect="1"/>
          </p:cNvPicPr>
          <p:nvPr/>
        </p:nvPicPr>
        <p:blipFill>
          <a:blip r:embed="rId2"/>
          <a:srcRect t="28906" b="2890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840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028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t-weave-device-reverse-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37827"/>
            <a:ext cx="6949440" cy="4399864"/>
          </a:xfrm>
          <a:prstGeom prst="rect">
            <a:avLst/>
          </a:prstGeom>
        </p:spPr>
      </p:pic>
      <p:pic>
        <p:nvPicPr>
          <p:cNvPr id="6" name="Picture 5" descr="pat-lockup-horizontal-reverse-transparent-2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03229"/>
            <a:ext cx="3291840" cy="850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COMPANY PRESENTATION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6858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200" b="0">
                <a:solidFill>
                  <a:srgbClr val="FFFFFF"/>
                </a:solidFill>
                <a:latin typeface="Barlow Condensed ExtraBold"/>
              </a:rPr>
              <a:t>SUCCESS STORIES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5ECF2"/>
                </a:solidFill>
                <a:latin typeface="Barlow Medium"/>
              </a:rPr>
              <a:t>28 reference projects in Egypt, Saudi Arabia and Oman — DCS commissioning, loop checks, start-up and training since 1991.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72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patdcs.com  ·  +20 109 991 2020  ·  info@patdcs.com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TRUSTED 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CONTRACTORS, VENDORS AND PLANT OWNERS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"/>
              </a:rPr>
              <a:t>Companies PAT engineers and technicians have delivered for since 1991.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200">
                <a:solidFill>
                  <a:srgbClr val="B8441A"/>
                </a:solidFill>
                <a:latin typeface="Barlow Condensed SemiBold"/>
              </a:rPr>
              <a:t>EPC CONTRACTORS &amp; SYSTEM VENDORS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m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2719544"/>
            <a:ext cx="1152144" cy="23933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31136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nw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728" y="2714815"/>
            <a:ext cx="1152144" cy="2487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822192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ew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755525"/>
            <a:ext cx="1152144" cy="16737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13248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1048" y="2587752"/>
            <a:ext cx="625726" cy="502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004304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rasc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2720120"/>
            <a:ext cx="1152144" cy="2381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595360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berdro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2" y="2740127"/>
            <a:ext cx="1152144" cy="1981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0186416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kb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09192" y="2587752"/>
            <a:ext cx="1035775" cy="50291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40080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m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5074" y="3566160"/>
            <a:ext cx="871338" cy="50291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31136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ko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95728" y="3647371"/>
            <a:ext cx="1152144" cy="34049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22192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nite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86784" y="3648534"/>
            <a:ext cx="1152144" cy="338171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5413248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z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77840" y="3739845"/>
            <a:ext cx="1152144" cy="155548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004304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audifa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68896" y="3709684"/>
            <a:ext cx="1152144" cy="21587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595360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avol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9952" y="3672759"/>
            <a:ext cx="1152144" cy="28972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0186416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eoro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51008" y="3674434"/>
            <a:ext cx="1152144" cy="28637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" y="4526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200">
                <a:solidFill>
                  <a:srgbClr val="B8441A"/>
                </a:solidFill>
                <a:latin typeface="Barlow Condensed SemiBold"/>
              </a:rPr>
              <a:t>PLANT OWNERS &amp; END USERS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ramc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1" y="5233592"/>
            <a:ext cx="1152144" cy="14899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2231136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e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95728" y="5252048"/>
            <a:ext cx="1152144" cy="112086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822192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arafiq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6784" y="5164074"/>
            <a:ext cx="1152144" cy="288036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413248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eeh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77840" y="5084928"/>
            <a:ext cx="1152144" cy="446326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7004304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hoenix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168896" y="5241052"/>
            <a:ext cx="1152144" cy="134079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8595360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nre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59952" y="5103049"/>
            <a:ext cx="1152144" cy="410085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0186416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unitedsuga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351008" y="5232223"/>
            <a:ext cx="1152144" cy="151737"/>
          </a:xfrm>
          <a:prstGeom prst="rect">
            <a:avLst/>
          </a:prstGeom>
        </p:spPr>
      </p:pic>
      <p:pic>
        <p:nvPicPr>
          <p:cNvPr id="49" name="Picture 48" descr="pat-symbol-color-256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-site.jpg"/>
          <p:cNvPicPr>
            <a:picLocks noChangeAspect="1"/>
          </p:cNvPicPr>
          <p:nvPr/>
        </p:nvPicPr>
        <p:blipFill>
          <a:blip r:embed="rId2"/>
          <a:srcRect l="20335" r="20335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PAT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852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THE COMMISSIONING SPECIALISTS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1991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0312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Established in Egypt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07791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907791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Reference 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71215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712463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712463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Countries: Egypt, Saudi Arabia, Oman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75887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17136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12 GW+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517136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Combined capacity of the plants we worked 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80559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321808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24/7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5321808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Support for our clients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85232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t-symbol-color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SECTORS WE SERVE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INDUSTRIES WE COMMISSION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STEAM POWER PLANTS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Ataka Power Plant 2×300 + 2×150 MW, Shoaiba ST Power Plant 3×250 MW, Rabigh Power Plant 4×300 MW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COMBINED-CYCLE POWER PLANTS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Damietta CCPP 1,230 MW, New Talkha &amp; El Kurimat II CCPP, New Talkha CCPP 750 MW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GAS-TURBINE POWER PLANTS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PP4 Riyadh Power Plant, SEC4A Al Jouf, SEC4A Al Quryat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WATER &amp; UTILITIES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Shoaiba lime water plant, Marafiq Yanbu II 3×270 MW, Yanbu I &amp; 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02336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02336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25196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1947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OIL &amp; GAS PROCESSING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2180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Abqaiq plants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29000" y="402336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402336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0" y="425196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91947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SOLAR (ISCC)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32180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Solar Energy Kurimat Power Plant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02336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02336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91947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INDUSTRIAL &amp; MARINE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32180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Suez Sokhna Port United Sugar Project, El Esraa petroleum tanker ship, Alexandria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4023360"/>
            <a:ext cx="2606040" cy="20574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0" y="429768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Barlow SemiBold"/>
              </a:rPr>
              <a:t>Counted by reference project. 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 b="0">
                <a:solidFill>
                  <a:srgbClr val="C9D3DC"/>
                </a:solidFill>
                <a:latin typeface="Barlow"/>
              </a:rPr>
              <a:t>Most of our work is DCS commissioning on power plants — and the same procedures carry over to water, oil &amp; gas and industrial sites.</a:t>
            </a:r>
          </a:p>
        </p:txBody>
      </p:sp>
      <p:pic>
        <p:nvPicPr>
          <p:cNvPr id="41" name="Picture 40" descr="pat-symbol-color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erview.png"/>
          <p:cNvPicPr>
            <a:picLocks noChangeAspect="1"/>
          </p:cNvPicPr>
          <p:nvPr/>
        </p:nvPicPr>
        <p:blipFill>
          <a:blip r:embed="rId2"/>
          <a:srcRect l="13120" r="13120"/>
          <a:stretch>
            <a:fillRect/>
          </a:stretch>
        </p:blipFill>
        <p:spPr>
          <a:xfrm>
            <a:off x="0" y="0"/>
            <a:ext cx="8778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98280" y="548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WHERE WE HAVE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98280" y="8229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Barlow Condensed ExtraBold"/>
              </a:rPr>
              <a:t>THREE COUNTRIES, ONE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237744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07A4A"/>
                </a:solidFill>
                <a:latin typeface="Barlow Condensed ExtraBold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5560" y="248716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Barlow Condensed"/>
              </a:rPr>
              <a:t>EGYPT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D3DC"/>
                </a:solidFill>
                <a:latin typeface="Barlow"/>
              </a:rPr>
              <a:t>reference projects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342900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07A4A"/>
                </a:solidFill>
                <a:latin typeface="Barlow Condensed Extra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5560" y="353872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Barlow Condensed"/>
              </a:rPr>
              <a:t>SAUDI ARABIA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D3DC"/>
                </a:solidFill>
                <a:latin typeface="Barlow"/>
              </a:rPr>
              <a:t>reference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448056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07A4A"/>
                </a:solidFill>
                <a:latin typeface="Barlow Condensed Extra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45902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Barlow Condensed"/>
              </a:rPr>
              <a:t>OMAN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D3DC"/>
                </a:solidFill>
                <a:latin typeface="Barlow"/>
              </a:rPr>
              <a:t>reference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5623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C9D3DC"/>
                </a:solidFill>
                <a:latin typeface="Barlow"/>
              </a:rPr>
              <a:t>Pins show plant locations; numbers are projects per site.</a:t>
            </a:r>
          </a:p>
        </p:txBody>
      </p:sp>
      <p:pic>
        <p:nvPicPr>
          <p:cNvPr id="13" name="Picture 12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ntry-egypt.png"/>
          <p:cNvPicPr>
            <a:picLocks noChangeAspect="1"/>
          </p:cNvPicPr>
          <p:nvPr/>
        </p:nvPicPr>
        <p:blipFill>
          <a:blip r:embed="rId2"/>
          <a:srcRect l="13198" r="13198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2004–2020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000" b="0">
                <a:solidFill>
                  <a:srgbClr val="FFFFFF"/>
                </a:solidFill>
                <a:latin typeface="Barlow Condensed ExtraBold"/>
              </a:rPr>
              <a:t>EGYPT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07A4A"/>
                </a:solidFill>
                <a:latin typeface="Barlow Condensed"/>
              </a:rPr>
              <a:t>14 REFERENCE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D5DEE6"/>
                </a:solidFill>
                <a:latin typeface="Barlow"/>
              </a:rPr>
              <a:t>Damietta · Talkha · El Kureimat · Ataka (Suez) · Ain Sokhna · Al Arish · Alexandria
Steam and combined-cycle power plants, solar ISCC, industrial and marine.</a:t>
            </a:r>
          </a:p>
        </p:txBody>
      </p:sp>
      <p:pic>
        <p:nvPicPr>
          <p:cNvPr id="8" name="Picture 7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shalling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2004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ATAKA POWER PLANT 2×300 + 2×150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retrofit of a steam power plant: old panels removed, new DCS installed and units returned to commercial operation.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Removal of the old panels and supervision of the new DCS installation and replacement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returning the DCS units to commercial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DCS units returned to commercial operation; owner staff trained.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wiring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1,230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2006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DAMIETTA CCPP 1,230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Migration of the plant DCS from Westinghouse WDPF to Emerson Ovation, with commissioning, start-up and owner training.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Installation and commissioning of the new DCS parts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returning the DCS units to commercial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returned to commercial operation on Ovation; owner staff trained.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startup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2007–2009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NEW TALKHA &amp; EL KURIMAT II CCPP — 2 × 750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installation &amp;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26154"/>
            <a:ext cx="815340" cy="169370"/>
          </a:xfrm>
          <a:prstGeom prst="rect">
            <a:avLst/>
          </a:prstGeom>
        </p:spPr>
      </p:pic>
      <p:pic>
        <p:nvPicPr>
          <p:cNvPr id="16" name="Picture 15" descr="sko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9740" y="2790360"/>
            <a:ext cx="815340" cy="240959"/>
          </a:xfrm>
          <a:prstGeom prst="rect">
            <a:avLst/>
          </a:prstGeom>
        </p:spPr>
      </p:pic>
      <p:pic>
        <p:nvPicPr>
          <p:cNvPr id="17" name="Picture 16" descr="c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240" y="2682240"/>
            <a:ext cx="792125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SKODA (Czech Republic) · CMI (now John Cockerill)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1" name="Picture 20" descr="eeh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6180" y="2682240"/>
            <a:ext cx="1180213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installation, hardware and software modifications and configuration for normal operation on two 750 MW combined-cycle plants.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Emerson — DCS installation &amp;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SKODA — BOP commissioning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CMI — HRSG commissioning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5599176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80888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Both plants powered up and configured for normal operation; owner staff trained.</a:t>
            </a:r>
          </a:p>
        </p:txBody>
      </p:sp>
      <p:pic>
        <p:nvPicPr>
          <p:cNvPr id="29" name="Picture 28" descr="pat-symbol-color-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modules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6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S7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SIEMENS PLC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2009 · SIEMENS S7 PLC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SUEZ SOKHNA PORT UNITED SUGAR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PLC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sav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88673"/>
            <a:ext cx="1554480" cy="3908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Savola Group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unitedsug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381757"/>
            <a:ext cx="1554480" cy="204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United Sugar Company of Egypt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IO loop and device checks and commissioning of a Siemens S7 PLC system for Savola (Saudi Arabia).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Siemens S7 PLC IO loop and device checks and commissioning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modules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NEW TALKHA CCPP 750 MW — CWP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CWP commissioning &amp; start-up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init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988"/>
            <a:ext cx="1554480" cy="45626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INITEC (Spain)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CWP commissioning, start-up and operation scope for INITEC (Spain) at the New Talkha combined-cycle plant.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CWP commissioning, start-up and operation scope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startup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0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2010 · ALSTOM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EL KURIMAT III 750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I&amp;C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init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988"/>
            <a:ext cx="1554480" cy="45626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INITEC (Spain)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IO loop and I&amp;C device commissioning team for the Alstom DCS, working for INITEC (Spain).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9654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123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Alstom DCS IO loop and I&amp;C device commissioning team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synch-al-arish.jpg"/>
          <p:cNvPicPr>
            <a:picLocks noChangeAspect="1"/>
          </p:cNvPicPr>
          <p:nvPr/>
        </p:nvPicPr>
        <p:blipFill>
          <a:blip r:embed="rId2"/>
          <a:srcRect l="31449" r="31449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Ovation operator graphics at Al Arish — PAT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2011–2012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AL ARISH STPP 2×30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Complete DCS removal and installation scope and migration activities on a steam power plant.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9654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123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Complete DCS removal and installation scope and migration activities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device check and test, commissioning of plant systems and return to normal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Plant systems back to normal operation; owner staff trained.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cs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210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2011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OLD TALKHA 210 MW — TCS UNIT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Removal of the old TCS control cabinets and complete installation of a new Ovation DCS on Unit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Removal of the old TCS control cabinets and complete installation scope of the new Ovation DCS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New Ovation DCS installed on Unit 2.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control-room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0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Solar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COMMISSIONING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SOLAR ENERGY KURIMAT POWER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Plant commissioning &amp; start-up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iberdr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50434"/>
            <a:ext cx="1554480" cy="26737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Iberdrola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nr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284514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NREA — New &amp; Renewable Energy Authority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Plant commissioning, start-up and operation within Iberdrola's scope.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9654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123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commissioning, start-up and operation within the Iberdrola scope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cs-cabinet-io.jpg"/>
          <p:cNvPicPr>
            <a:picLocks noChangeAspect="1"/>
          </p:cNvPicPr>
          <p:nvPr/>
        </p:nvPicPr>
        <p:blipFill>
          <a:blip r:embed="rId2"/>
          <a:srcRect t="1354" b="1354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0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2015–2016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EL KURIMAT I 2×650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18021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Site management and supervision of the DCS replacement on a very tight schedule, through start-up and return to commercial operation.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Site management and supervision, inspecting and checking out the removal of the old DCS parts and the installation of the new DCS, on a very tight schedule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Start-up and commissioning of the new DCS, powering up and configuring it for normal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device checks and tests (database, graphics, logic) and hardware and software modifications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DCS back in normal commercial operation on a very tight schedule.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operators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WEST DAMIETTA POWER STATION CCPP — GT 4×125 + 1×250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I&amp;C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560320"/>
            <a:ext cx="568841" cy="457200"/>
          </a:xfrm>
          <a:prstGeom prst="rect">
            <a:avLst/>
          </a:prstGeom>
        </p:spPr>
      </p:pic>
      <p:pic>
        <p:nvPicPr>
          <p:cNvPr id="16" name="Picture 15" descr="orasc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655414"/>
            <a:ext cx="1291590" cy="267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GE · Orascom 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eeh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560320"/>
            <a:ext cx="1180213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I&amp;C commissioning scope for four HRSGs, BOP, STG and ACC plants: cold and hot IO loop tests and plant device functional tests.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I&amp;C commissioning scope for 4 HRSG, BOP, STG and ACC plants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IO cold and hot loop tests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device functional tests</a:t>
            </a:r>
          </a:p>
        </p:txBody>
      </p:sp>
      <p:pic>
        <p:nvPicPr>
          <p:cNvPr id="26" name="Picture 25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ynchronizing-panel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6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EL ESRAA PETROLEUM TANKER SHIP, ALEXANDRIA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Electrical &amp; PLC troubleshooting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di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11813"/>
            <a:ext cx="1554480" cy="1980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Direct contract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sr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755392"/>
            <a:ext cx="1554479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El Esraa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Troubleshooting of generator systems, switchgear, emergency systems and PLCs; the ship was handed over to the first engineer within 10 days after standing idle for years.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Troubleshooting of the electrical generator systems, switchgear, emergency systems and PLCs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Task completed and the ship handed over to the first engineer within 10 days, after being stopped for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71744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53456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Ship handed over to the first engineer within 10 days after standing idle for years.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ntry-saudi.png"/>
          <p:cNvPicPr>
            <a:picLocks noChangeAspect="1"/>
          </p:cNvPicPr>
          <p:nvPr/>
        </p:nvPicPr>
        <p:blipFill>
          <a:blip r:embed="rId2"/>
          <a:srcRect l="4116" r="4116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2009–2023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000" b="0">
                <a:solidFill>
                  <a:srgbClr val="FFFFFF"/>
                </a:solidFill>
                <a:latin typeface="Barlow Condensed ExtraBold"/>
              </a:rPr>
              <a:t>SAUDI ARABIA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07A4A"/>
                </a:solidFill>
                <a:latin typeface="Barlow Condensed"/>
              </a:rPr>
              <a:t>13 REFERENCE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D5DEE6"/>
                </a:solidFill>
                <a:latin typeface="Barlow"/>
              </a:rPr>
              <a:t>Shoaiba · Rabigh · Yanbu · Makkah · Riyadh · Al Qassim · Al Jouf · Al Qurayyat · Abqaiq
Steam and gas-turbine power plants, utilities, desalination and oil &amp; gas processing.</a:t>
            </a:r>
          </a:p>
        </p:txBody>
      </p:sp>
      <p:pic>
        <p:nvPicPr>
          <p:cNvPr id="8" name="Picture 7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shalling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2009–2010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SHOAIBA ST POWER PLANT 3×250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40850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retrofit of a steam power plant: IO loop and device checks, commissioning and start-up, returning the units to commercial operation.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normalizing the system and returning to commercial operation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System normalised and units returned to commercial operation.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gt-panel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9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PP4 RIYADH POWER PLANT — GE GAS TURBINES 2×25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274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71330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GE gas turbine loop and device checks, commissioning and start-up, plus DCS Ovation operation training for owner staff.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GE gas turbine loop and device checks,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DCS Ovation operation training for owner staff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Gas turbines commissioned and started up; owner operators trained on Ovation.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wiring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2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1,200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2009–2011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RABIGH POWER PLANT 4×300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40850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software and hardware installation and programming, commissioning and start-up, ending with hand-over to the owner's staff.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DCS software and hardware installation and programming, commissioning, start-up and powering 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checks, commissioning and start-up, units normalized and handed over to the owner for commercial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normalised and handed over to the owner for commercial operation.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cs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6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245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2009–2012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SEC4A AL JOUF — FIAT GAS TURBINES 7×35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74938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83522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New DCS installation supervision and software installation, then gas turbine IO loop checks, commissioning and a guarantee-period scope.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the new DCS installation and software installation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Powering up the DCS and making it ready for gas turbine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Gas turbine IO loop and device checks, plant commissioning and normalizing the units after the reliability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76376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4548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back to commercial operation after the reliability test; guarantee period covered.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wiring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FAT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2010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SHOAIBA LIME WATER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engineering for FAT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6180" y="2301240"/>
            <a:ext cx="27660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B5368"/>
                </a:solidFill>
                <a:latin typeface="Barlow Medium"/>
              </a:rPr>
              <a:t>Owner to be confirmed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Engineering of the database, logic and graphics software, ready for the factory acceptance test.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Engineering of database, logic and graphics software ready for FAT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Database, logic and graphics delivered ready for FAT.</a:t>
            </a:r>
          </a:p>
        </p:txBody>
      </p:sp>
      <p:pic>
        <p:nvPicPr>
          <p:cNvPr id="26" name="Picture 25" descr="pat-symbol-color-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desk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7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2013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SEC4A AL QURYAT — BBC GAS TURBINES 2×22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74938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83522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New DCS installation supervision and software installation, then gas turbine IO loop checks and commissioning.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the new DCS installation and software installation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Powering up the DCS and making it ready for gas turbine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Gas turbine IO loop and device checks, plant commissioning and normalizing the units after the reliability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76376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4548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back to commercial operation after the reliability test.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operators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2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2014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RABIGH II 2×300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modernization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2266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40850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IO loop and device checks, commissioning and start-up after the DCS modernization, ending with hand-over to the owner.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units normalized and returned to commercial operation by the owner (Saudi Electricity)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returned to commercial operation by the owner.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work-rack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0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810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2014–2017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MARAFIQ YANBU II 3×270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New DCS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49969"/>
            <a:ext cx="1291590" cy="268301"/>
          </a:xfrm>
          <a:prstGeom prst="rect">
            <a:avLst/>
          </a:prstGeom>
        </p:spPr>
      </p:pic>
      <p:pic>
        <p:nvPicPr>
          <p:cNvPr id="16" name="Picture 15" descr="hanwh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344668"/>
            <a:ext cx="1291590" cy="27890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Hanwha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marafi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289810"/>
            <a:ext cx="1554480" cy="3886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Marafiq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hardware and software modifications and system configuration, IO loop and device checks, commissioning and start-up, with warranty-period coverage by a PAT engineer.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DCS hardware and software modifications and system configuration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checks,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Warranty period covered by a PAT engineer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New DCS commissioned; warranty period covered by a PAT engineer.</a:t>
            </a:r>
          </a:p>
        </p:txBody>
      </p:sp>
      <p:pic>
        <p:nvPicPr>
          <p:cNvPr id="28" name="Picture 27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erator-workstation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2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390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2016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MAKKAH POWER PLANT — GE GAS TURBINES 6×65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 — GT3 troubleshooting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749384"/>
            <a:ext cx="1554480" cy="3229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83522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GT3 start-up, operation troubleshooting and solution during the DCS upgrade of a GE gas turbine plant.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GT3 start-up, operation troubleshooting and 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GT3 start-up and operation problems solved.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gt-hmi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3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GT9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VALVE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AL QASEEM POWER STATION — WESTINGHOUSE GAS TURBINES 9×50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GT9 valve replacement &amp;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saudif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43293"/>
            <a:ext cx="1554480" cy="29125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FAL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713306"/>
            <a:ext cx="1554480" cy="1512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Supervision of the new FCV installation (GT9 FCV, OST and HP/LP valves replaced with new REGZA valves), software installation and commissioning.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the new FCV installation and software installation, ready for gas turbine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GT9 IO loop and device checks, plant commissioning and normalizing the unit after the reliability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14416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96128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GT9 back to commercial operation after the reliability test.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workstation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0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HCD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CONSULTING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YANBU I &amp; II — MARAFIQ TRAINING ACADEMY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Consulting &amp; training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leo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90933"/>
            <a:ext cx="1554480" cy="38637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Leoron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marafiq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89810"/>
            <a:ext cx="1554480" cy="3886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Marafiq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HCD senior consultant for Marafiq's utility and engineering practice: improved work-flow procedures and established a training academy.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Work-flow procedure improvements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Established an academy for the Marafiq training center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Created training course material for engineers, supervisors and technicians on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Training academy established for Marafiq's training centre.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team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07A4A"/>
                </a:solidFill>
                <a:latin typeface="Barlow Condensed ExtraBold"/>
              </a:rPr>
              <a:t>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FROM ABB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2021–2022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SHOAIBA POWER PLANT, STAGE I 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rehabilitation — ABB to Emerson Ovation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49969"/>
            <a:ext cx="1291590" cy="268301"/>
          </a:xfrm>
          <a:prstGeom prst="rect">
            <a:avLst/>
          </a:prstGeom>
        </p:spPr>
      </p:pic>
      <p:pic>
        <p:nvPicPr>
          <p:cNvPr id="16" name="Picture 15" descr="giz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396932"/>
            <a:ext cx="1291590" cy="17437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Giza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s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408506"/>
            <a:ext cx="1554480" cy="15122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rehabilitation from ABB to Emerson Ovation on a very tight schedule: IO loop checks, device tests and commissioning of boiler, turbine, BOP, desalination and demi water.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IO loop checks, device tests and commissioning of the boiler, turbine, BOP, desalination and demi water systems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Troubleshooting of the Ovation DCS together with the Emerson team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Comprehensive support throughout the project on a tight construction schedule to return the plant to commercial operation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Delivered on a very tight schedule to return the plant to commercial operation.</a:t>
            </a:r>
          </a:p>
        </p:txBody>
      </p:sp>
      <p:pic>
        <p:nvPicPr>
          <p:cNvPr id="28" name="Picture 27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work-rack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PIBS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2022–2023 · EMERSON DELTAV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ABQAIQ PLANTS — DCS UPGRADE, PIB-2 TO PIB-18 (ARAMCO)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 — DeltaV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704234"/>
            <a:ext cx="815340" cy="169370"/>
          </a:xfrm>
          <a:prstGeom prst="rect">
            <a:avLst/>
          </a:prstGeom>
        </p:spPr>
      </p:pic>
      <p:pic>
        <p:nvPicPr>
          <p:cNvPr id="16" name="Picture 15" descr="saudif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9740" y="2712537"/>
            <a:ext cx="815340" cy="152765"/>
          </a:xfrm>
          <a:prstGeom prst="rect">
            <a:avLst/>
          </a:prstGeom>
        </p:spPr>
      </p:pic>
      <p:pic>
        <p:nvPicPr>
          <p:cNvPr id="17" name="Picture 16" descr="kb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240" y="2590976"/>
            <a:ext cx="815340" cy="39588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Saudi FAL · KBR (design)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1" name="Picture 20" descr="aram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6180" y="2688404"/>
            <a:ext cx="1554480" cy="20103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Aramco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upgrade across twelve PIBs: document review, cabinet staging checks before FAT, construction supervision and hot and cold tests for each PIB shutdown.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Engineering document review and verification of cabinet and marshalling staging before FAT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construction activities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Hot and cold test commissioning for each PIB shutdown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Hot and cold tests completed for each of the twelve PIB shutdowns.</a:t>
            </a:r>
          </a:p>
        </p:txBody>
      </p:sp>
      <p:pic>
        <p:nvPicPr>
          <p:cNvPr id="29" name="Picture 28" descr="pat-symbol-color-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ntry-oman.png"/>
          <p:cNvPicPr>
            <a:picLocks noChangeAspect="1"/>
          </p:cNvPicPr>
          <p:nvPr/>
        </p:nvPicPr>
        <p:blipFill>
          <a:blip r:embed="rId2"/>
          <a:srcRect t="4517" b="4517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2014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000" b="0">
                <a:solidFill>
                  <a:srgbClr val="FFFFFF"/>
                </a:solidFill>
                <a:latin typeface="Barlow Condensed ExtraBold"/>
              </a:rPr>
              <a:t>OMAN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07A4A"/>
                </a:solidFill>
                <a:latin typeface="Barlow Condensed"/>
              </a:rPr>
              <a:t>1 REFERENCE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D5DEE6"/>
                </a:solidFill>
                <a:latin typeface="Barlow"/>
              </a:rPr>
              <a:t>Sur
A 2,000 MW combined-cycle IPP — Ovation DCS and Automatic Plant Start.</a:t>
            </a:r>
          </a:p>
        </p:txBody>
      </p:sp>
      <p:pic>
        <p:nvPicPr>
          <p:cNvPr id="8" name="Picture 7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team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8.png"/>
          <p:cNvPicPr>
            <a:picLocks noChangeAspect="1"/>
          </p:cNvPicPr>
          <p:nvPr/>
        </p:nvPicPr>
        <p:blipFill>
          <a:blip r:embed="rId3"/>
          <a:srcRect t="10563" b="10563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2,000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OMAN · 2014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SUR IPP-CCPP 2,000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Ovation DCS — APS check &amp;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49969"/>
            <a:ext cx="1291590" cy="268301"/>
          </a:xfrm>
          <a:prstGeom prst="rect">
            <a:avLst/>
          </a:prstGeom>
        </p:spPr>
      </p:pic>
      <p:pic>
        <p:nvPicPr>
          <p:cNvPr id="16" name="Picture 15" descr="daewo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390305"/>
            <a:ext cx="1291590" cy="1876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Daewoo E&amp;C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phoen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393669"/>
            <a:ext cx="1554480" cy="1809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Phoenix Power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Check and modification of the Automatic Plant Start (APS) software on the new Ovation DCS so the plant starts as one power block.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Check, troubleshooting and modification of the APS (Automatic Plant Start) software so it works as one power block plant start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systems commissioning and start-up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Automatic Plant Start working as one power-block start; plant systems commissioned.</a:t>
            </a:r>
          </a:p>
        </p:txBody>
      </p:sp>
      <p:pic>
        <p:nvPicPr>
          <p:cNvPr id="28" name="Picture 27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erson-pla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53566"/>
            <a:ext cx="3474720" cy="42594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685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960120"/>
            <a:ext cx="6583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RECOGNISED BY EMERSON PROCESS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B5368"/>
                </a:solidFill>
                <a:latin typeface="Barlow"/>
              </a:rPr>
              <a:t>“In recognition of Ahdy Abu-Malwa for technical contributions and excellence in delivery of Emerson Ovation Expert Control System Solutions within the Arab Republic of Egypt.”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361188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441A"/>
                </a:solidFill>
                <a:latin typeface="Barlow Condensed"/>
              </a:rPr>
              <a:t>DCS LEAD ENGINEER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New Talkha 750 MW CC Expansion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Damietta 1,230 MW WDPF to Ovation Migration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El-Kureimat II 750 MW CC Power Station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6118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441A"/>
                </a:solidFill>
                <a:latin typeface="Barlow Condensed"/>
              </a:rPr>
              <a:t>DCS ENGINEER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Ataka 900 MW Steam Modernization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56692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B5368"/>
                </a:solidFill>
                <a:latin typeface="Barlow"/>
              </a:rPr>
              <a:t>Signed by Robert Yeager, President, Emerson PWS, and T.C. Chan, Project Manager, Emerson PWS. Emerson and Ovation are trademarks of Emerson Electric Co.</a:t>
            </a:r>
          </a:p>
        </p:txBody>
      </p:sp>
      <p:pic>
        <p:nvPicPr>
          <p:cNvPr id="10" name="Picture 9" descr="pat-symbol-color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-night.jpg"/>
          <p:cNvPicPr>
            <a:picLocks noChangeAspect="1"/>
          </p:cNvPicPr>
          <p:nvPr/>
        </p:nvPicPr>
        <p:blipFill>
          <a:blip r:embed="rId2"/>
          <a:srcRect t="28906" b="2890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840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t-weave-device-reverse-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945053"/>
            <a:ext cx="6583680" cy="41682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YOUR NEXT OUTAGE OR START-UP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7772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>
                <a:solidFill>
                  <a:srgbClr val="FFFFFF"/>
                </a:solidFill>
                <a:latin typeface="Barlow Condensed ExtraBold"/>
              </a:rPr>
              <a:t>LET’S BRING YOUR CONTROL SYSTEM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3520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+20 109 991 2020  (24/7)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E-MAIL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7763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info@patdcs.com  ·  sales@patdcs.com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434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patdcs.com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92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OFFICE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New Damietta, Egypt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468112"/>
            <a:ext cx="100584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r-patd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486400"/>
            <a:ext cx="950976" cy="950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28800" y="57150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D5DEE6"/>
                </a:solidFill>
                <a:latin typeface="Barlow"/>
              </a:rPr>
              <a:t>Scan for the full project list</a:t>
            </a:r>
          </a:p>
        </p:txBody>
      </p:sp>
      <p:pic>
        <p:nvPicPr>
          <p:cNvPr id="18" name="Picture 17" descr="pat-lockup-horizontal-reverse-transparent-2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1480"/>
            <a:ext cx="2652998" cy="685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